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Muli"/>
      <p:regular r:id="rId18"/>
      <p:bold r:id="rId19"/>
      <p:italic r:id="rId20"/>
      <p:boldItalic r:id="rId21"/>
    </p:embeddedFont>
    <p:embeddedFont>
      <p:font typeface="Muli Regular"/>
      <p:regular r:id="rId22"/>
      <p:bold r:id="rId23"/>
      <p:italic r:id="rId24"/>
      <p:boldItalic r:id="rId25"/>
    </p:embeddedFont>
    <p:embeddedFont>
      <p:font typeface="Lexend Deca"/>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uli-italic.fntdata"/><Relationship Id="rId22" Type="http://schemas.openxmlformats.org/officeDocument/2006/relationships/font" Target="fonts/MuliRegular-regular.fntdata"/><Relationship Id="rId21" Type="http://schemas.openxmlformats.org/officeDocument/2006/relationships/font" Target="fonts/Muli-boldItalic.fntdata"/><Relationship Id="rId24" Type="http://schemas.openxmlformats.org/officeDocument/2006/relationships/font" Target="fonts/MuliRegular-italic.fntdata"/><Relationship Id="rId23" Type="http://schemas.openxmlformats.org/officeDocument/2006/relationships/font" Target="fonts/MuliRegular-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exendDeca-regular.fntdata"/><Relationship Id="rId25" Type="http://schemas.openxmlformats.org/officeDocument/2006/relationships/font" Target="fonts/MuliRegular-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Muli-bold.fntdata"/><Relationship Id="rId18" Type="http://schemas.openxmlformats.org/officeDocument/2006/relationships/font" Target="fonts/Muli-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8" name="Shape 68"/>
        <p:cNvGrpSpPr/>
        <p:nvPr/>
      </p:nvGrpSpPr>
      <p:grpSpPr>
        <a:xfrm>
          <a:off x="0" y="0"/>
          <a:ext cx="0" cy="0"/>
          <a:chOff x="0" y="0"/>
          <a:chExt cx="0" cy="0"/>
        </a:xfrm>
      </p:grpSpPr>
      <p:sp>
        <p:nvSpPr>
          <p:cNvPr id="69" name="Google Shape;69;g6bf22809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6bf22809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B</a:t>
            </a:r>
            <a:r>
              <a:rPr lang="en"/>
              <a:t>ig data uses the wide range of information that is available in order to adjust services, improve hypotheses, and adjust our understanding of what information is.</a:t>
            </a:r>
            <a:endParaRPr/>
          </a:p>
          <a:p>
            <a:pPr indent="-298450" lvl="0" marL="457200" rtl="0" algn="l">
              <a:spcBef>
                <a:spcPts val="0"/>
              </a:spcBef>
              <a:spcAft>
                <a:spcPts val="0"/>
              </a:spcAft>
              <a:buSzPts val="1100"/>
              <a:buChar char="●"/>
            </a:pPr>
            <a:r>
              <a:rPr lang="en"/>
              <a:t>The earlier definitions of big data simply consisted of any data set that was too vast and broad for computers to process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4" name="Shape 74"/>
        <p:cNvGrpSpPr/>
        <p:nvPr/>
      </p:nvGrpSpPr>
      <p:grpSpPr>
        <a:xfrm>
          <a:off x="0" y="0"/>
          <a:ext cx="0" cy="0"/>
          <a:chOff x="0" y="0"/>
          <a:chExt cx="0" cy="0"/>
        </a:xfrm>
      </p:grpSpPr>
      <p:sp>
        <p:nvSpPr>
          <p:cNvPr id="75" name="Google Shape;75;g6bcb94ca7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6bcb94ca7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0" name="Shape 80"/>
        <p:cNvGrpSpPr/>
        <p:nvPr/>
      </p:nvGrpSpPr>
      <p:grpSpPr>
        <a:xfrm>
          <a:off x="0" y="0"/>
          <a:ext cx="0" cy="0"/>
          <a:chOff x="0" y="0"/>
          <a:chExt cx="0" cy="0"/>
        </a:xfrm>
      </p:grpSpPr>
      <p:sp>
        <p:nvSpPr>
          <p:cNvPr id="81" name="Google Shape;81;g6bcb94ca73_1_3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6bcb94ca73_1_3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6" name="Shape 86"/>
        <p:cNvGrpSpPr/>
        <p:nvPr/>
      </p:nvGrpSpPr>
      <p:grpSpPr>
        <a:xfrm>
          <a:off x="0" y="0"/>
          <a:ext cx="0" cy="0"/>
          <a:chOff x="0" y="0"/>
          <a:chExt cx="0" cy="0"/>
        </a:xfrm>
      </p:grpSpPr>
      <p:sp>
        <p:nvSpPr>
          <p:cNvPr id="87" name="Google Shape;87;g6bcb94ca73_1_38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6bcb94ca73_1_3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2" name="Shape 92"/>
        <p:cNvGrpSpPr/>
        <p:nvPr/>
      </p:nvGrpSpPr>
      <p:grpSpPr>
        <a:xfrm>
          <a:off x="0" y="0"/>
          <a:ext cx="0" cy="0"/>
          <a:chOff x="0" y="0"/>
          <a:chExt cx="0" cy="0"/>
        </a:xfrm>
      </p:grpSpPr>
      <p:sp>
        <p:nvSpPr>
          <p:cNvPr id="93" name="Google Shape;93;g6bcb94ca73_1_38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6bcb94ca73_1_38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61950" lvl="1" marL="742950" rtl="0" algn="l">
              <a:lnSpc>
                <a:spcPct val="115000"/>
              </a:lnSpc>
              <a:spcBef>
                <a:spcPts val="480"/>
              </a:spcBef>
              <a:spcAft>
                <a:spcPts val="0"/>
              </a:spcAft>
              <a:buClr>
                <a:srgbClr val="000000"/>
              </a:buClr>
              <a:buSzPts val="1200"/>
              <a:buFont typeface="Times New Roman"/>
              <a:buChar char="∙"/>
            </a:pPr>
            <a:r>
              <a:rPr lang="en" sz="1200">
                <a:latin typeface="Times New Roman"/>
                <a:ea typeface="Times New Roman"/>
                <a:cs typeface="Times New Roman"/>
                <a:sym typeface="Times New Roman"/>
              </a:rPr>
              <a:t>Admission Bias- the population studied doesn’t represent the common population</a:t>
            </a:r>
            <a:endParaRPr sz="1200">
              <a:latin typeface="Times New Roman"/>
              <a:ea typeface="Times New Roman"/>
              <a:cs typeface="Times New Roman"/>
              <a:sym typeface="Times New Roman"/>
            </a:endParaRPr>
          </a:p>
          <a:p>
            <a:pPr indent="-361950" lvl="1" marL="742950" rtl="0" algn="l">
              <a:lnSpc>
                <a:spcPct val="115000"/>
              </a:lnSpc>
              <a:spcBef>
                <a:spcPts val="0"/>
              </a:spcBef>
              <a:spcAft>
                <a:spcPts val="0"/>
              </a:spcAft>
              <a:buClr>
                <a:schemeClr val="accent5"/>
              </a:buClr>
              <a:buSzPts val="1200"/>
              <a:buFont typeface="Times New Roman"/>
              <a:buChar char="∙"/>
            </a:pPr>
            <a:r>
              <a:rPr lang="en" sz="1200">
                <a:latin typeface="Times New Roman"/>
                <a:ea typeface="Times New Roman"/>
                <a:cs typeface="Times New Roman"/>
                <a:sym typeface="Times New Roman"/>
              </a:rPr>
              <a:t>Publication Bias- Outcome of a study influences the decision; In this case the decision for a court to rule a court decision</a:t>
            </a:r>
            <a:endParaRPr sz="1200">
              <a:latin typeface="Times New Roman"/>
              <a:ea typeface="Times New Roman"/>
              <a:cs typeface="Times New Roman"/>
              <a:sym typeface="Times New Roman"/>
            </a:endParaRPr>
          </a:p>
          <a:p>
            <a:pPr indent="-361950" lvl="1" marL="742950" rtl="0" algn="l">
              <a:lnSpc>
                <a:spcPct val="115000"/>
              </a:lnSpc>
              <a:spcBef>
                <a:spcPts val="0"/>
              </a:spcBef>
              <a:spcAft>
                <a:spcPts val="0"/>
              </a:spcAft>
              <a:buClr>
                <a:srgbClr val="000000"/>
              </a:buClr>
              <a:buSzPts val="1200"/>
              <a:buFont typeface="Times New Roman"/>
              <a:buChar char="∙"/>
            </a:pPr>
            <a:r>
              <a:rPr lang="en" sz="1200">
                <a:latin typeface="Times New Roman"/>
                <a:ea typeface="Times New Roman"/>
                <a:cs typeface="Times New Roman"/>
                <a:sym typeface="Times New Roman"/>
              </a:rPr>
              <a:t>Selection Bias- When a group that is more likely to enter a statistical study is overrepresent and a group that is less likely to enter a statistical study is underrepresented.</a:t>
            </a:r>
            <a:endParaRPr sz="1200">
              <a:latin typeface="Times New Roman"/>
              <a:ea typeface="Times New Roman"/>
              <a:cs typeface="Times New Roman"/>
              <a:sym typeface="Times New Roman"/>
            </a:endParaRPr>
          </a:p>
          <a:p>
            <a:pPr indent="-361950" lvl="1" marL="742950" rtl="0" algn="l">
              <a:lnSpc>
                <a:spcPct val="115000"/>
              </a:lnSpc>
              <a:spcBef>
                <a:spcPts val="0"/>
              </a:spcBef>
              <a:spcAft>
                <a:spcPts val="0"/>
              </a:spcAft>
              <a:buClr>
                <a:schemeClr val="accent5"/>
              </a:buClr>
              <a:buSzPts val="1200"/>
              <a:buFont typeface="Times New Roman"/>
              <a:buChar char="∙"/>
            </a:pPr>
            <a:r>
              <a:rPr lang="en" sz="1200">
                <a:latin typeface="Times New Roman"/>
                <a:ea typeface="Times New Roman"/>
                <a:cs typeface="Times New Roman"/>
                <a:sym typeface="Times New Roman"/>
              </a:rPr>
              <a:t>Quantification Bias- Discarding/discrediting data because it doesn’t fit a statistical model</a:t>
            </a:r>
            <a:endParaRPr sz="1200">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8" name="Shape 98"/>
        <p:cNvGrpSpPr/>
        <p:nvPr/>
      </p:nvGrpSpPr>
      <p:grpSpPr>
        <a:xfrm>
          <a:off x="0" y="0"/>
          <a:ext cx="0" cy="0"/>
          <a:chOff x="0" y="0"/>
          <a:chExt cx="0" cy="0"/>
        </a:xfrm>
      </p:grpSpPr>
      <p:sp>
        <p:nvSpPr>
          <p:cNvPr id="99" name="Google Shape;99;g6bcb94ca73_1_38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6bcb94ca73_1_38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4" name="Shape 104"/>
        <p:cNvGrpSpPr/>
        <p:nvPr/>
      </p:nvGrpSpPr>
      <p:grpSpPr>
        <a:xfrm>
          <a:off x="0" y="0"/>
          <a:ext cx="0" cy="0"/>
          <a:chOff x="0" y="0"/>
          <a:chExt cx="0" cy="0"/>
        </a:xfrm>
      </p:grpSpPr>
      <p:sp>
        <p:nvSpPr>
          <p:cNvPr id="105" name="Google Shape;105;g6c03a4af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6c03a4af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1" name="Shape 111"/>
        <p:cNvGrpSpPr/>
        <p:nvPr/>
      </p:nvGrpSpPr>
      <p:grpSpPr>
        <a:xfrm>
          <a:off x="0" y="0"/>
          <a:ext cx="0" cy="0"/>
          <a:chOff x="0" y="0"/>
          <a:chExt cx="0" cy="0"/>
        </a:xfrm>
      </p:grpSpPr>
      <p:sp>
        <p:nvSpPr>
          <p:cNvPr id="112" name="Google Shape;112;g6bcb94ca73_1_3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6bcb94ca73_1_3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7" name="Shape 117"/>
        <p:cNvGrpSpPr/>
        <p:nvPr/>
      </p:nvGrpSpPr>
      <p:grpSpPr>
        <a:xfrm>
          <a:off x="0" y="0"/>
          <a:ext cx="0" cy="0"/>
          <a:chOff x="0" y="0"/>
          <a:chExt cx="0" cy="0"/>
        </a:xfrm>
      </p:grpSpPr>
      <p:sp>
        <p:nvSpPr>
          <p:cNvPr id="118" name="Google Shape;118;g6bcb94ca73_1_3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6bcb94ca73_1_3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3" name="Shape 123"/>
        <p:cNvGrpSpPr/>
        <p:nvPr/>
      </p:nvGrpSpPr>
      <p:grpSpPr>
        <a:xfrm>
          <a:off x="0" y="0"/>
          <a:ext cx="0" cy="0"/>
          <a:chOff x="0" y="0"/>
          <a:chExt cx="0" cy="0"/>
        </a:xfrm>
      </p:grpSpPr>
      <p:sp>
        <p:nvSpPr>
          <p:cNvPr id="124" name="Google Shape;124;g6bcb94ca73_1_3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6bcb94ca73_1_3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9" name="Shape 129"/>
        <p:cNvGrpSpPr/>
        <p:nvPr/>
      </p:nvGrpSpPr>
      <p:grpSpPr>
        <a:xfrm>
          <a:off x="0" y="0"/>
          <a:ext cx="0" cy="0"/>
          <a:chOff x="0" y="0"/>
          <a:chExt cx="0" cy="0"/>
        </a:xfrm>
      </p:grpSpPr>
      <p:sp>
        <p:nvSpPr>
          <p:cNvPr id="130" name="Google Shape;130;g6bcb94ca73_1_3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6bcb94ca73_1_3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type="title">
  <p:cSld name="TITLE">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0" t="0"/>
          <a:stretch/>
        </p:blipFill>
        <p:spPr>
          <a:xfrm>
            <a:off x="0" y="-25"/>
            <a:ext cx="9143957" cy="5143500"/>
          </a:xfrm>
          <a:prstGeom prst="rect">
            <a:avLst/>
          </a:prstGeom>
          <a:noFill/>
          <a:ln>
            <a:noFill/>
          </a:ln>
        </p:spPr>
      </p:pic>
      <p:sp>
        <p:nvSpPr>
          <p:cNvPr id="11" name="Google Shape;11;p2"/>
          <p:cNvSpPr txBox="1"/>
          <p:nvPr>
            <p:ph type="ctrTitle"/>
          </p:nvPr>
        </p:nvSpPr>
        <p:spPr>
          <a:xfrm>
            <a:off x="685800" y="1991825"/>
            <a:ext cx="4539000" cy="1159800"/>
          </a:xfrm>
          <a:prstGeom prst="rect">
            <a:avLst/>
          </a:prstGeom>
        </p:spPr>
        <p:txBody>
          <a:bodyPr anchorCtr="0" anchor="ctr" bIns="0" lIns="0" spcFirstLastPara="1" rIns="0" wrap="square" tIns="0">
            <a:noAutofit/>
          </a:bodyPr>
          <a:lstStyle>
            <a:lvl1pPr lvl="0">
              <a:spcBef>
                <a:spcPts val="0"/>
              </a:spcBef>
              <a:spcAft>
                <a:spcPts val="0"/>
              </a:spcAft>
              <a:buSzPts val="5000"/>
              <a:buNone/>
              <a:defRPr sz="50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ubtitle">
  <p:cSld name="TITLE_1">
    <p:spTree>
      <p:nvGrpSpPr>
        <p:cNvPr id="12"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 name="Google Shape;14;p3"/>
          <p:cNvSpPr txBox="1"/>
          <p:nvPr>
            <p:ph type="ctrTitle"/>
          </p:nvPr>
        </p:nvSpPr>
        <p:spPr>
          <a:xfrm>
            <a:off x="685800" y="1659550"/>
            <a:ext cx="4263900" cy="1159800"/>
          </a:xfrm>
          <a:prstGeom prst="rect">
            <a:avLst/>
          </a:prstGeom>
        </p:spPr>
        <p:txBody>
          <a:bodyPr anchorCtr="0" anchor="b" bIns="0" lIns="0" spcFirstLastPara="1" rIns="0" wrap="square" tIns="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5" name="Google Shape;15;p3"/>
          <p:cNvSpPr txBox="1"/>
          <p:nvPr>
            <p:ph idx="1" type="subTitle"/>
          </p:nvPr>
        </p:nvSpPr>
        <p:spPr>
          <a:xfrm>
            <a:off x="685800" y="2916254"/>
            <a:ext cx="4263900" cy="784800"/>
          </a:xfrm>
          <a:prstGeom prst="rect">
            <a:avLst/>
          </a:prstGeom>
        </p:spPr>
        <p:txBody>
          <a:bodyPr anchorCtr="0" anchor="t" bIns="0" lIns="0" spcFirstLastPara="1" rIns="0" wrap="square" tIns="0">
            <a:noAutofit/>
          </a:bodyPr>
          <a:lstStyle>
            <a:lvl1pPr lvl="0" rtl="0">
              <a:spcBef>
                <a:spcPts val="0"/>
              </a:spcBef>
              <a:spcAft>
                <a:spcPts val="0"/>
              </a:spcAft>
              <a:buClr>
                <a:schemeClr val="accent4"/>
              </a:buClr>
              <a:buSzPts val="1800"/>
              <a:buNone/>
              <a:defRPr sz="1800">
                <a:solidFill>
                  <a:schemeClr val="accent4"/>
                </a:solidFill>
              </a:defRPr>
            </a:lvl1pPr>
            <a:lvl2pPr lvl="1" rtl="0">
              <a:spcBef>
                <a:spcPts val="0"/>
              </a:spcBef>
              <a:spcAft>
                <a:spcPts val="0"/>
              </a:spcAft>
              <a:buClr>
                <a:schemeClr val="accent4"/>
              </a:buClr>
              <a:buSzPts val="1800"/>
              <a:buNone/>
              <a:defRPr sz="1800">
                <a:solidFill>
                  <a:schemeClr val="accent4"/>
                </a:solidFill>
              </a:defRPr>
            </a:lvl2pPr>
            <a:lvl3pPr lvl="2" rtl="0">
              <a:spcBef>
                <a:spcPts val="0"/>
              </a:spcBef>
              <a:spcAft>
                <a:spcPts val="0"/>
              </a:spcAft>
              <a:buClr>
                <a:schemeClr val="accent4"/>
              </a:buClr>
              <a:buSzPts val="1800"/>
              <a:buNone/>
              <a:defRPr sz="1800">
                <a:solidFill>
                  <a:schemeClr val="accent4"/>
                </a:solidFill>
              </a:defRPr>
            </a:lvl3pPr>
            <a:lvl4pPr lvl="3" rtl="0">
              <a:spcBef>
                <a:spcPts val="0"/>
              </a:spcBef>
              <a:spcAft>
                <a:spcPts val="0"/>
              </a:spcAft>
              <a:buClr>
                <a:schemeClr val="accent4"/>
              </a:buClr>
              <a:buSzPts val="1800"/>
              <a:buNone/>
              <a:defRPr sz="1800">
                <a:solidFill>
                  <a:schemeClr val="accent4"/>
                </a:solidFill>
              </a:defRPr>
            </a:lvl4pPr>
            <a:lvl5pPr lvl="4" rtl="0">
              <a:spcBef>
                <a:spcPts val="0"/>
              </a:spcBef>
              <a:spcAft>
                <a:spcPts val="0"/>
              </a:spcAft>
              <a:buClr>
                <a:schemeClr val="accent4"/>
              </a:buClr>
              <a:buSzPts val="1800"/>
              <a:buNone/>
              <a:defRPr sz="1800">
                <a:solidFill>
                  <a:schemeClr val="accent4"/>
                </a:solidFill>
              </a:defRPr>
            </a:lvl5pPr>
            <a:lvl6pPr lvl="5" rtl="0">
              <a:spcBef>
                <a:spcPts val="0"/>
              </a:spcBef>
              <a:spcAft>
                <a:spcPts val="0"/>
              </a:spcAft>
              <a:buClr>
                <a:schemeClr val="accent4"/>
              </a:buClr>
              <a:buSzPts val="1800"/>
              <a:buNone/>
              <a:defRPr sz="1800">
                <a:solidFill>
                  <a:schemeClr val="accent4"/>
                </a:solidFill>
              </a:defRPr>
            </a:lvl6pPr>
            <a:lvl7pPr lvl="6" rtl="0">
              <a:spcBef>
                <a:spcPts val="0"/>
              </a:spcBef>
              <a:spcAft>
                <a:spcPts val="0"/>
              </a:spcAft>
              <a:buClr>
                <a:schemeClr val="accent4"/>
              </a:buClr>
              <a:buSzPts val="1800"/>
              <a:buNone/>
              <a:defRPr sz="1800">
                <a:solidFill>
                  <a:schemeClr val="accent4"/>
                </a:solidFill>
              </a:defRPr>
            </a:lvl7pPr>
            <a:lvl8pPr lvl="7" rtl="0">
              <a:spcBef>
                <a:spcPts val="0"/>
              </a:spcBef>
              <a:spcAft>
                <a:spcPts val="0"/>
              </a:spcAft>
              <a:buClr>
                <a:schemeClr val="accent4"/>
              </a:buClr>
              <a:buSzPts val="1800"/>
              <a:buNone/>
              <a:defRPr sz="1800">
                <a:solidFill>
                  <a:schemeClr val="accent4"/>
                </a:solidFill>
              </a:defRPr>
            </a:lvl8pPr>
            <a:lvl9pPr lvl="8" rtl="0">
              <a:spcBef>
                <a:spcPts val="0"/>
              </a:spcBef>
              <a:spcAft>
                <a:spcPts val="0"/>
              </a:spcAft>
              <a:buClr>
                <a:schemeClr val="accent4"/>
              </a:buClr>
              <a:buSzPts val="1800"/>
              <a:buNone/>
              <a:defRPr sz="1800">
                <a:solidFill>
                  <a:schemeClr val="accent4"/>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Quote">
  <p:cSld name="TITLE_1_1">
    <p:spTree>
      <p:nvGrpSpPr>
        <p:cNvPr id="16" name="Shape 16"/>
        <p:cNvGrpSpPr/>
        <p:nvPr/>
      </p:nvGrpSpPr>
      <p:grpSpPr>
        <a:xfrm>
          <a:off x="0" y="0"/>
          <a:ext cx="0" cy="0"/>
          <a:chOff x="0" y="0"/>
          <a:chExt cx="0" cy="0"/>
        </a:xfrm>
      </p:grpSpPr>
      <p:pic>
        <p:nvPicPr>
          <p:cNvPr id="17" name="Google Shape;17;p4"/>
          <p:cNvPicPr preferRelativeResize="0"/>
          <p:nvPr/>
        </p:nvPicPr>
        <p:blipFill>
          <a:blip r:embed="rId2">
            <a:alphaModFix/>
          </a:blip>
          <a:stretch>
            <a:fillRect/>
          </a:stretch>
        </p:blipFill>
        <p:spPr>
          <a:xfrm>
            <a:off x="0" y="0"/>
            <a:ext cx="9144000" cy="5143500"/>
          </a:xfrm>
          <a:prstGeom prst="rect">
            <a:avLst/>
          </a:prstGeom>
          <a:noFill/>
          <a:ln>
            <a:noFill/>
          </a:ln>
        </p:spPr>
      </p:pic>
      <p:sp>
        <p:nvSpPr>
          <p:cNvPr id="18" name="Google Shape;18;p4"/>
          <p:cNvSpPr/>
          <p:nvPr/>
        </p:nvSpPr>
        <p:spPr>
          <a:xfrm>
            <a:off x="42525" y="42525"/>
            <a:ext cx="2000100" cy="2000100"/>
          </a:xfrm>
          <a:prstGeom prst="ellipse">
            <a:avLst/>
          </a:prstGeom>
          <a:gradFill>
            <a:gsLst>
              <a:gs pos="0">
                <a:srgbClr val="00FFFF">
                  <a:alpha val="54117"/>
                </a:srgbClr>
              </a:gs>
              <a:gs pos="73000">
                <a:srgbClr val="00FFFF">
                  <a:alpha val="0"/>
                </a:srgbClr>
              </a:gs>
              <a:gs pos="100000">
                <a:srgbClr val="00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txBox="1"/>
          <p:nvPr>
            <p:ph idx="1" type="body"/>
          </p:nvPr>
        </p:nvSpPr>
        <p:spPr>
          <a:xfrm>
            <a:off x="1343850" y="866400"/>
            <a:ext cx="4185600" cy="3693600"/>
          </a:xfrm>
          <a:prstGeom prst="rect">
            <a:avLst/>
          </a:prstGeom>
        </p:spPr>
        <p:txBody>
          <a:bodyPr anchorCtr="0" anchor="t" bIns="0" lIns="0" spcFirstLastPara="1" rIns="0" wrap="square" tIns="0">
            <a:noAutofit/>
          </a:bodyPr>
          <a:lstStyle>
            <a:lvl1pPr indent="-419100" lvl="0" marL="457200" rtl="0">
              <a:spcBef>
                <a:spcPts val="600"/>
              </a:spcBef>
              <a:spcAft>
                <a:spcPts val="0"/>
              </a:spcAft>
              <a:buSzPts val="3000"/>
              <a:buFont typeface="Lexend Deca"/>
              <a:buChar char="⬡"/>
              <a:defRPr sz="3000">
                <a:latin typeface="Lexend Deca"/>
                <a:ea typeface="Lexend Deca"/>
                <a:cs typeface="Lexend Deca"/>
                <a:sym typeface="Lexend Deca"/>
              </a:defRPr>
            </a:lvl1pPr>
            <a:lvl2pPr indent="-419100" lvl="1" marL="914400" rtl="0">
              <a:spcBef>
                <a:spcPts val="0"/>
              </a:spcBef>
              <a:spcAft>
                <a:spcPts val="0"/>
              </a:spcAft>
              <a:buSzPts val="3000"/>
              <a:buFont typeface="Lexend Deca"/>
              <a:buChar char="∙"/>
              <a:defRPr sz="3000">
                <a:latin typeface="Lexend Deca"/>
                <a:ea typeface="Lexend Deca"/>
                <a:cs typeface="Lexend Deca"/>
                <a:sym typeface="Lexend Deca"/>
              </a:defRPr>
            </a:lvl2pPr>
            <a:lvl3pPr indent="-419100" lvl="2" marL="1371600" rtl="0">
              <a:spcBef>
                <a:spcPts val="0"/>
              </a:spcBef>
              <a:spcAft>
                <a:spcPts val="0"/>
              </a:spcAft>
              <a:buSzPts val="3000"/>
              <a:buFont typeface="Lexend Deca"/>
              <a:buChar char="∙"/>
              <a:defRPr sz="3000">
                <a:latin typeface="Lexend Deca"/>
                <a:ea typeface="Lexend Deca"/>
                <a:cs typeface="Lexend Deca"/>
                <a:sym typeface="Lexend Deca"/>
              </a:defRPr>
            </a:lvl3pPr>
            <a:lvl4pPr indent="-419100" lvl="3" marL="1828800" rtl="0">
              <a:spcBef>
                <a:spcPts val="0"/>
              </a:spcBef>
              <a:spcAft>
                <a:spcPts val="0"/>
              </a:spcAft>
              <a:buSzPts val="3000"/>
              <a:buFont typeface="Lexend Deca"/>
              <a:buChar char="●"/>
              <a:defRPr sz="3000">
                <a:latin typeface="Lexend Deca"/>
                <a:ea typeface="Lexend Deca"/>
                <a:cs typeface="Lexend Deca"/>
                <a:sym typeface="Lexend Deca"/>
              </a:defRPr>
            </a:lvl4pPr>
            <a:lvl5pPr indent="-419100" lvl="4" marL="2286000" rtl="0">
              <a:spcBef>
                <a:spcPts val="0"/>
              </a:spcBef>
              <a:spcAft>
                <a:spcPts val="0"/>
              </a:spcAft>
              <a:buSzPts val="3000"/>
              <a:buFont typeface="Lexend Deca"/>
              <a:buChar char="○"/>
              <a:defRPr sz="3000">
                <a:latin typeface="Lexend Deca"/>
                <a:ea typeface="Lexend Deca"/>
                <a:cs typeface="Lexend Deca"/>
                <a:sym typeface="Lexend Deca"/>
              </a:defRPr>
            </a:lvl5pPr>
            <a:lvl6pPr indent="-419100" lvl="5" marL="2743200" rtl="0">
              <a:spcBef>
                <a:spcPts val="0"/>
              </a:spcBef>
              <a:spcAft>
                <a:spcPts val="0"/>
              </a:spcAft>
              <a:buSzPts val="3000"/>
              <a:buFont typeface="Lexend Deca"/>
              <a:buChar char="■"/>
              <a:defRPr sz="3000">
                <a:latin typeface="Lexend Deca"/>
                <a:ea typeface="Lexend Deca"/>
                <a:cs typeface="Lexend Deca"/>
                <a:sym typeface="Lexend Deca"/>
              </a:defRPr>
            </a:lvl6pPr>
            <a:lvl7pPr indent="-419100" lvl="6" marL="3200400" rtl="0">
              <a:spcBef>
                <a:spcPts val="0"/>
              </a:spcBef>
              <a:spcAft>
                <a:spcPts val="0"/>
              </a:spcAft>
              <a:buSzPts val="3000"/>
              <a:buFont typeface="Lexend Deca"/>
              <a:buChar char="●"/>
              <a:defRPr sz="3000">
                <a:latin typeface="Lexend Deca"/>
                <a:ea typeface="Lexend Deca"/>
                <a:cs typeface="Lexend Deca"/>
                <a:sym typeface="Lexend Deca"/>
              </a:defRPr>
            </a:lvl7pPr>
            <a:lvl8pPr indent="-419100" lvl="7" marL="3657600" rtl="0">
              <a:spcBef>
                <a:spcPts val="0"/>
              </a:spcBef>
              <a:spcAft>
                <a:spcPts val="0"/>
              </a:spcAft>
              <a:buSzPts val="3000"/>
              <a:buFont typeface="Lexend Deca"/>
              <a:buChar char="○"/>
              <a:defRPr sz="3000">
                <a:latin typeface="Lexend Deca"/>
                <a:ea typeface="Lexend Deca"/>
                <a:cs typeface="Lexend Deca"/>
                <a:sym typeface="Lexend Deca"/>
              </a:defRPr>
            </a:lvl8pPr>
            <a:lvl9pPr indent="-419100" lvl="8" marL="4114800">
              <a:spcBef>
                <a:spcPts val="0"/>
              </a:spcBef>
              <a:spcAft>
                <a:spcPts val="0"/>
              </a:spcAft>
              <a:buSzPts val="3000"/>
              <a:buFont typeface="Lexend Deca"/>
              <a:buChar char="■"/>
              <a:defRPr sz="3000">
                <a:latin typeface="Lexend Deca"/>
                <a:ea typeface="Lexend Deca"/>
                <a:cs typeface="Lexend Deca"/>
                <a:sym typeface="Lexend Deca"/>
              </a:defRPr>
            </a:lvl9pPr>
          </a:lstStyle>
          <a:p/>
        </p:txBody>
      </p:sp>
      <p:sp>
        <p:nvSpPr>
          <p:cNvPr id="20" name="Google Shape;20;p4"/>
          <p:cNvSpPr txBox="1"/>
          <p:nvPr/>
        </p:nvSpPr>
        <p:spPr>
          <a:xfrm>
            <a:off x="826414" y="656117"/>
            <a:ext cx="613800" cy="65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7200">
                <a:solidFill>
                  <a:schemeClr val="lt1"/>
                </a:solidFill>
                <a:latin typeface="Muli Regular"/>
                <a:ea typeface="Muli Regular"/>
                <a:cs typeface="Muli Regular"/>
                <a:sym typeface="Muli Regular"/>
              </a:rPr>
              <a:t>“</a:t>
            </a:r>
            <a:endParaRPr sz="7200">
              <a:solidFill>
                <a:schemeClr val="lt1"/>
              </a:solidFill>
              <a:latin typeface="Muli Regular"/>
              <a:ea typeface="Muli Regular"/>
              <a:cs typeface="Muli Regular"/>
              <a:sym typeface="Muli Regular"/>
            </a:endParaRPr>
          </a:p>
        </p:txBody>
      </p:sp>
      <p:sp>
        <p:nvSpPr>
          <p:cNvPr id="21" name="Google Shape;21;p4"/>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 1 column" type="tx">
  <p:cSld name="TITLE_AND_BODY">
    <p:spTree>
      <p:nvGrpSpPr>
        <p:cNvPr id="22" name="Shape 22"/>
        <p:cNvGrpSpPr/>
        <p:nvPr/>
      </p:nvGrpSpPr>
      <p:grpSpPr>
        <a:xfrm>
          <a:off x="0" y="0"/>
          <a:ext cx="0" cy="0"/>
          <a:chOff x="0" y="0"/>
          <a:chExt cx="0" cy="0"/>
        </a:xfrm>
      </p:grpSpPr>
      <p:pic>
        <p:nvPicPr>
          <p:cNvPr id="23" name="Google Shape;23;p5"/>
          <p:cNvPicPr preferRelativeResize="0"/>
          <p:nvPr/>
        </p:nvPicPr>
        <p:blipFill>
          <a:blip r:embed="rId2">
            <a:alphaModFix/>
          </a:blip>
          <a:stretch>
            <a:fillRect/>
          </a:stretch>
        </p:blipFill>
        <p:spPr>
          <a:xfrm>
            <a:off x="0" y="0"/>
            <a:ext cx="9144000" cy="5143500"/>
          </a:xfrm>
          <a:prstGeom prst="rect">
            <a:avLst/>
          </a:prstGeom>
          <a:noFill/>
          <a:ln>
            <a:noFill/>
          </a:ln>
        </p:spPr>
      </p:pic>
      <p:sp>
        <p:nvSpPr>
          <p:cNvPr id="24" name="Google Shape;24;p5"/>
          <p:cNvSpPr txBox="1"/>
          <p:nvPr>
            <p:ph type="title"/>
          </p:nvPr>
        </p:nvSpPr>
        <p:spPr>
          <a:xfrm>
            <a:off x="580550" y="205975"/>
            <a:ext cx="6014400" cy="857400"/>
          </a:xfrm>
          <a:prstGeom prst="rect">
            <a:avLst/>
          </a:prstGeom>
        </p:spPr>
        <p:txBody>
          <a:bodyPr anchorCtr="0" anchor="b" bIns="0" lIns="0" spcFirstLastPara="1" rIns="0" wrap="square" tIns="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5"/>
          <p:cNvSpPr txBox="1"/>
          <p:nvPr>
            <p:ph idx="1" type="body"/>
          </p:nvPr>
        </p:nvSpPr>
        <p:spPr>
          <a:xfrm>
            <a:off x="580550" y="1352550"/>
            <a:ext cx="6014400" cy="3161700"/>
          </a:xfrm>
          <a:prstGeom prst="rect">
            <a:avLst/>
          </a:prstGeom>
        </p:spPr>
        <p:txBody>
          <a:bodyPr anchorCtr="0" anchor="t" bIns="0" lIns="0" spcFirstLastPara="1" rIns="0" wrap="square" tIns="0">
            <a:noAutofit/>
          </a:bodyPr>
          <a:lstStyle>
            <a:lvl1pPr indent="-381000" lvl="0" marL="457200">
              <a:spcBef>
                <a:spcPts val="60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sp>
        <p:nvSpPr>
          <p:cNvPr id="26" name="Google Shape;26;p5"/>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 2 columns" type="twoColTx">
  <p:cSld name="TITLE_AND_TWO_COLUMNS">
    <p:spTree>
      <p:nvGrpSpPr>
        <p:cNvPr id="27" name="Shape 27"/>
        <p:cNvGrpSpPr/>
        <p:nvPr/>
      </p:nvGrpSpPr>
      <p:grpSpPr>
        <a:xfrm>
          <a:off x="0" y="0"/>
          <a:ext cx="0" cy="0"/>
          <a:chOff x="0" y="0"/>
          <a:chExt cx="0" cy="0"/>
        </a:xfrm>
      </p:grpSpPr>
      <p:pic>
        <p:nvPicPr>
          <p:cNvPr id="28" name="Google Shape;28;p6"/>
          <p:cNvPicPr preferRelativeResize="0"/>
          <p:nvPr/>
        </p:nvPicPr>
        <p:blipFill>
          <a:blip r:embed="rId2">
            <a:alphaModFix/>
          </a:blip>
          <a:stretch>
            <a:fillRect/>
          </a:stretch>
        </p:blipFill>
        <p:spPr>
          <a:xfrm>
            <a:off x="0" y="0"/>
            <a:ext cx="9144000" cy="5143500"/>
          </a:xfrm>
          <a:prstGeom prst="rect">
            <a:avLst/>
          </a:prstGeom>
          <a:noFill/>
          <a:ln>
            <a:noFill/>
          </a:ln>
        </p:spPr>
      </p:pic>
      <p:sp>
        <p:nvSpPr>
          <p:cNvPr id="29" name="Google Shape;29;p6"/>
          <p:cNvSpPr txBox="1"/>
          <p:nvPr>
            <p:ph type="title"/>
          </p:nvPr>
        </p:nvSpPr>
        <p:spPr>
          <a:xfrm>
            <a:off x="580550" y="205975"/>
            <a:ext cx="6014400" cy="857400"/>
          </a:xfrm>
          <a:prstGeom prst="rect">
            <a:avLst/>
          </a:prstGeom>
        </p:spPr>
        <p:txBody>
          <a:bodyPr anchorCtr="0" anchor="b" bIns="0" lIns="0" spcFirstLastPara="1" rIns="0" wrap="square" tIns="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6"/>
          <p:cNvSpPr txBox="1"/>
          <p:nvPr>
            <p:ph idx="1" type="body"/>
          </p:nvPr>
        </p:nvSpPr>
        <p:spPr>
          <a:xfrm>
            <a:off x="580550" y="1352550"/>
            <a:ext cx="2841000" cy="3155100"/>
          </a:xfrm>
          <a:prstGeom prst="rect">
            <a:avLst/>
          </a:prstGeom>
        </p:spPr>
        <p:txBody>
          <a:bodyPr anchorCtr="0" anchor="t" bIns="0" lIns="0" spcFirstLastPara="1" rIns="0" wrap="square" tIns="0">
            <a:noAutofit/>
          </a:bodyPr>
          <a:lstStyle>
            <a:lvl1pPr indent="-355600" lvl="0" marL="457200">
              <a:spcBef>
                <a:spcPts val="60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31" name="Google Shape;31;p6"/>
          <p:cNvSpPr txBox="1"/>
          <p:nvPr>
            <p:ph idx="2" type="body"/>
          </p:nvPr>
        </p:nvSpPr>
        <p:spPr>
          <a:xfrm>
            <a:off x="3753943" y="1352550"/>
            <a:ext cx="2841000" cy="3155100"/>
          </a:xfrm>
          <a:prstGeom prst="rect">
            <a:avLst/>
          </a:prstGeom>
        </p:spPr>
        <p:txBody>
          <a:bodyPr anchorCtr="0" anchor="t" bIns="0" lIns="0" spcFirstLastPara="1" rIns="0" wrap="square" tIns="0">
            <a:noAutofit/>
          </a:bodyPr>
          <a:lstStyle>
            <a:lvl1pPr indent="-355600" lvl="0" marL="457200">
              <a:spcBef>
                <a:spcPts val="60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32" name="Google Shape;32;p6"/>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 3 columns">
  <p:cSld name="TITLE_AND_TWO_COLUMNS_1">
    <p:spTree>
      <p:nvGrpSpPr>
        <p:cNvPr id="33" name="Shape 33"/>
        <p:cNvGrpSpPr/>
        <p:nvPr/>
      </p:nvGrpSpPr>
      <p:grpSpPr>
        <a:xfrm>
          <a:off x="0" y="0"/>
          <a:ext cx="0" cy="0"/>
          <a:chOff x="0" y="0"/>
          <a:chExt cx="0" cy="0"/>
        </a:xfrm>
      </p:grpSpPr>
      <p:pic>
        <p:nvPicPr>
          <p:cNvPr id="34" name="Google Shape;34;p7"/>
          <p:cNvPicPr preferRelativeResize="0"/>
          <p:nvPr/>
        </p:nvPicPr>
        <p:blipFill>
          <a:blip r:embed="rId2">
            <a:alphaModFix/>
          </a:blip>
          <a:stretch>
            <a:fillRect/>
          </a:stretch>
        </p:blipFill>
        <p:spPr>
          <a:xfrm>
            <a:off x="0" y="0"/>
            <a:ext cx="9144000" cy="5143500"/>
          </a:xfrm>
          <a:prstGeom prst="rect">
            <a:avLst/>
          </a:prstGeom>
          <a:noFill/>
          <a:ln>
            <a:noFill/>
          </a:ln>
        </p:spPr>
      </p:pic>
      <p:sp>
        <p:nvSpPr>
          <p:cNvPr id="35" name="Google Shape;35;p7"/>
          <p:cNvSpPr txBox="1"/>
          <p:nvPr>
            <p:ph type="title"/>
          </p:nvPr>
        </p:nvSpPr>
        <p:spPr>
          <a:xfrm>
            <a:off x="580550" y="205975"/>
            <a:ext cx="6405600" cy="857400"/>
          </a:xfrm>
          <a:prstGeom prst="rect">
            <a:avLst/>
          </a:prstGeom>
        </p:spPr>
        <p:txBody>
          <a:bodyPr anchorCtr="0" anchor="b" bIns="0" lIns="0" spcFirstLastPara="1" rIns="0" wrap="square" tIns="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36" name="Google Shape;36;p7"/>
          <p:cNvSpPr txBox="1"/>
          <p:nvPr>
            <p:ph idx="1" type="body"/>
          </p:nvPr>
        </p:nvSpPr>
        <p:spPr>
          <a:xfrm>
            <a:off x="580550" y="1352550"/>
            <a:ext cx="2005800" cy="3202200"/>
          </a:xfrm>
          <a:prstGeom prst="rect">
            <a:avLst/>
          </a:prstGeom>
        </p:spPr>
        <p:txBody>
          <a:bodyPr anchorCtr="0" anchor="t" bIns="0" lIns="0" spcFirstLastPara="1" rIns="0" wrap="square" tIns="0">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37" name="Google Shape;37;p7"/>
          <p:cNvSpPr txBox="1"/>
          <p:nvPr>
            <p:ph idx="2" type="body"/>
          </p:nvPr>
        </p:nvSpPr>
        <p:spPr>
          <a:xfrm>
            <a:off x="2780447" y="1352550"/>
            <a:ext cx="2005800" cy="3202200"/>
          </a:xfrm>
          <a:prstGeom prst="rect">
            <a:avLst/>
          </a:prstGeom>
        </p:spPr>
        <p:txBody>
          <a:bodyPr anchorCtr="0" anchor="t" bIns="0" lIns="0" spcFirstLastPara="1" rIns="0" wrap="square" tIns="0">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38" name="Google Shape;38;p7"/>
          <p:cNvSpPr txBox="1"/>
          <p:nvPr>
            <p:ph idx="3" type="body"/>
          </p:nvPr>
        </p:nvSpPr>
        <p:spPr>
          <a:xfrm>
            <a:off x="4980344" y="1352550"/>
            <a:ext cx="2005800" cy="3202200"/>
          </a:xfrm>
          <a:prstGeom prst="rect">
            <a:avLst/>
          </a:prstGeom>
        </p:spPr>
        <p:txBody>
          <a:bodyPr anchorCtr="0" anchor="t" bIns="0" lIns="0" spcFirstLastPara="1" rIns="0" wrap="square" tIns="0">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39" name="Google Shape;39;p7"/>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40" name="Shape 40"/>
        <p:cNvGrpSpPr/>
        <p:nvPr/>
      </p:nvGrpSpPr>
      <p:grpSpPr>
        <a:xfrm>
          <a:off x="0" y="0"/>
          <a:ext cx="0" cy="0"/>
          <a:chOff x="0" y="0"/>
          <a:chExt cx="0" cy="0"/>
        </a:xfrm>
      </p:grpSpPr>
      <p:pic>
        <p:nvPicPr>
          <p:cNvPr id="41" name="Google Shape;41;p8"/>
          <p:cNvPicPr preferRelativeResize="0"/>
          <p:nvPr/>
        </p:nvPicPr>
        <p:blipFill>
          <a:blip r:embed="rId2">
            <a:alphaModFix/>
          </a:blip>
          <a:stretch>
            <a:fillRect/>
          </a:stretch>
        </p:blipFill>
        <p:spPr>
          <a:xfrm>
            <a:off x="0" y="0"/>
            <a:ext cx="9144000" cy="5143500"/>
          </a:xfrm>
          <a:prstGeom prst="rect">
            <a:avLst/>
          </a:prstGeom>
          <a:noFill/>
          <a:ln>
            <a:noFill/>
          </a:ln>
        </p:spPr>
      </p:pic>
      <p:sp>
        <p:nvSpPr>
          <p:cNvPr id="42" name="Google Shape;42;p8"/>
          <p:cNvSpPr txBox="1"/>
          <p:nvPr>
            <p:ph type="title"/>
          </p:nvPr>
        </p:nvSpPr>
        <p:spPr>
          <a:xfrm>
            <a:off x="580550" y="205975"/>
            <a:ext cx="6014400" cy="857400"/>
          </a:xfrm>
          <a:prstGeom prst="rect">
            <a:avLst/>
          </a:prstGeom>
        </p:spPr>
        <p:txBody>
          <a:bodyPr anchorCtr="0" anchor="b" bIns="0" lIns="0" spcFirstLastPara="1" rIns="0" wrap="square" tIns="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43" name="Google Shape;43;p8"/>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hyperlink" Target="https://www.youtube.com/watch?v=pk35J2u8KqY" TargetMode="External"/><Relationship Id="rId4" Type="http://schemas.openxmlformats.org/officeDocument/2006/relationships/hyperlink" Target="https://www.youtube.com/watch?v=pk35J2u8KqYv" TargetMode="External"/><Relationship Id="rId5" Type="http://schemas.openxmlformats.org/officeDocument/2006/relationships/hyperlink" Target="https://www.forbes.com/sites/kashmirhill/2012/02/16/how-target-figured-out-a-teen-girl-was-pregnant-before-her-father-did/#71b343436668" TargetMode="External"/></Relationships>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580550" y="205975"/>
            <a:ext cx="6014400" cy="857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Court Case Studies Summary</a:t>
            </a:r>
            <a:endParaRPr/>
          </a:p>
        </p:txBody>
      </p:sp>
      <p:sp>
        <p:nvSpPr>
          <p:cNvPr id="103" name="Google Shape;103;p20"/>
          <p:cNvSpPr txBox="1"/>
          <p:nvPr>
            <p:ph idx="1" type="body"/>
          </p:nvPr>
        </p:nvSpPr>
        <p:spPr>
          <a:xfrm>
            <a:off x="311700" y="1152475"/>
            <a:ext cx="8520600" cy="3782700"/>
          </a:xfrm>
          <a:prstGeom prst="rect">
            <a:avLst/>
          </a:prstGeom>
        </p:spPr>
        <p:txBody>
          <a:bodyPr anchorCtr="0" anchor="t" bIns="0" lIns="0" spcFirstLastPara="1" rIns="0" wrap="square" tIns="0">
            <a:noAutofit/>
          </a:bodyPr>
          <a:lstStyle/>
          <a:p>
            <a:pPr indent="-342900" lvl="0" marL="457200" rtl="0" algn="l">
              <a:spcBef>
                <a:spcPts val="600"/>
              </a:spcBef>
              <a:spcAft>
                <a:spcPts val="0"/>
              </a:spcAft>
              <a:buClr>
                <a:srgbClr val="FFFFFF"/>
              </a:buClr>
              <a:buSzPts val="1800"/>
              <a:buChar char="⬡"/>
            </a:pPr>
            <a:r>
              <a:rPr i="1" lang="en" sz="1800">
                <a:solidFill>
                  <a:srgbClr val="FFFFFF"/>
                </a:solidFill>
              </a:rPr>
              <a:t>McCleskey v. Kemp</a:t>
            </a:r>
            <a:r>
              <a:rPr lang="en" sz="1800">
                <a:solidFill>
                  <a:srgbClr val="FFFFFF"/>
                </a:solidFill>
              </a:rPr>
              <a:t>: Statistics must be complete/absolutely correlate with racial discrimination in order to be accepted as proof of discrimination</a:t>
            </a:r>
            <a:endParaRPr sz="1800">
              <a:solidFill>
                <a:srgbClr val="FFFFFF"/>
              </a:solidFill>
            </a:endParaRPr>
          </a:p>
          <a:p>
            <a:pPr indent="-342900" lvl="0" marL="457200" rtl="0" algn="l">
              <a:spcBef>
                <a:spcPts val="0"/>
              </a:spcBef>
              <a:spcAft>
                <a:spcPts val="0"/>
              </a:spcAft>
              <a:buClr>
                <a:srgbClr val="FFFFFF"/>
              </a:buClr>
              <a:buSzPts val="1800"/>
              <a:buChar char="⬡"/>
            </a:pPr>
            <a:r>
              <a:rPr i="1" lang="en" sz="1800">
                <a:solidFill>
                  <a:srgbClr val="FFFFFF"/>
                </a:solidFill>
              </a:rPr>
              <a:t>Chavez </a:t>
            </a:r>
            <a:r>
              <a:rPr lang="en" sz="1800">
                <a:solidFill>
                  <a:srgbClr val="FFFFFF"/>
                </a:solidFill>
              </a:rPr>
              <a:t>court- Believes big data cases aren’t valid because of the defendants confirmation bias</a:t>
            </a:r>
            <a:endParaRPr sz="1800">
              <a:solidFill>
                <a:srgbClr val="FFFFFF"/>
              </a:solidFill>
            </a:endParaRPr>
          </a:p>
          <a:p>
            <a:pPr indent="-342900" lvl="0" marL="457200" rtl="0" algn="l">
              <a:spcBef>
                <a:spcPts val="0"/>
              </a:spcBef>
              <a:spcAft>
                <a:spcPts val="0"/>
              </a:spcAft>
              <a:buClr>
                <a:srgbClr val="FFFFFF"/>
              </a:buClr>
              <a:buSzPts val="1800"/>
              <a:buChar char="⬡"/>
            </a:pPr>
            <a:r>
              <a:rPr i="1" lang="en" sz="1800">
                <a:solidFill>
                  <a:srgbClr val="FFFFFF"/>
                </a:solidFill>
              </a:rPr>
              <a:t>U.S. v. Mesa-Roche</a:t>
            </a:r>
            <a:r>
              <a:rPr lang="en" sz="1800">
                <a:solidFill>
                  <a:srgbClr val="FFFFFF"/>
                </a:solidFill>
              </a:rPr>
              <a:t>- Success with big data and police </a:t>
            </a:r>
            <a:r>
              <a:rPr lang="en" sz="1800">
                <a:solidFill>
                  <a:srgbClr val="FFFFFF"/>
                </a:solidFill>
              </a:rPr>
              <a:t>discrimination</a:t>
            </a:r>
            <a:endParaRPr sz="1800">
              <a:solidFill>
                <a:srgbClr val="FFFFFF"/>
              </a:solidFill>
            </a:endParaRPr>
          </a:p>
          <a:p>
            <a:pPr indent="-342900" lvl="1" marL="914400" rtl="0" algn="l">
              <a:spcBef>
                <a:spcPts val="0"/>
              </a:spcBef>
              <a:spcAft>
                <a:spcPts val="0"/>
              </a:spcAft>
              <a:buClr>
                <a:srgbClr val="FFFFFF"/>
              </a:buClr>
              <a:buSzPts val="1800"/>
              <a:buChar char="∙"/>
            </a:pPr>
            <a:r>
              <a:rPr lang="en" sz="1800">
                <a:solidFill>
                  <a:srgbClr val="FFFFFF"/>
                </a:solidFill>
              </a:rPr>
              <a:t>Scientific method</a:t>
            </a:r>
            <a:endParaRPr sz="1800">
              <a:solidFill>
                <a:srgbClr val="FFFFFF"/>
              </a:solidFill>
            </a:endParaRPr>
          </a:p>
          <a:p>
            <a:pPr indent="-342900" lvl="1" marL="914400" rtl="0" algn="l">
              <a:spcBef>
                <a:spcPts val="0"/>
              </a:spcBef>
              <a:spcAft>
                <a:spcPts val="0"/>
              </a:spcAft>
              <a:buClr>
                <a:srgbClr val="FFFFFF"/>
              </a:buClr>
              <a:buSzPts val="1800"/>
              <a:buChar char="∙"/>
            </a:pPr>
            <a:r>
              <a:rPr lang="en" sz="1800">
                <a:solidFill>
                  <a:srgbClr val="FFFFFF"/>
                </a:solidFill>
              </a:rPr>
              <a:t>Evaluative process of the officer was observed/analyzed</a:t>
            </a:r>
            <a:endParaRPr sz="1800">
              <a:solidFill>
                <a:srgbClr val="FFFFFF"/>
              </a:solidFill>
            </a:endParaRPr>
          </a:p>
          <a:p>
            <a:pPr indent="-342900" lvl="1" marL="914400" rtl="0" algn="l">
              <a:spcBef>
                <a:spcPts val="0"/>
              </a:spcBef>
              <a:spcAft>
                <a:spcPts val="0"/>
              </a:spcAft>
              <a:buClr>
                <a:srgbClr val="FFFFFF"/>
              </a:buClr>
              <a:buSzPts val="1800"/>
              <a:buChar char="∙"/>
            </a:pPr>
            <a:r>
              <a:rPr lang="en" sz="1800">
                <a:solidFill>
                  <a:srgbClr val="FFFFFF"/>
                </a:solidFill>
              </a:rPr>
              <a:t>Data collection on the factors used with respect to each stop</a:t>
            </a:r>
            <a:endParaRPr sz="1800">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580550" y="205975"/>
            <a:ext cx="6014400" cy="857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2000">
                <a:solidFill>
                  <a:srgbClr val="FFFFFF"/>
                </a:solidFill>
                <a:latin typeface="Muli"/>
                <a:ea typeface="Muli"/>
                <a:cs typeface="Muli"/>
                <a:sym typeface="Muli"/>
              </a:rPr>
              <a:t>Case Study: </a:t>
            </a:r>
            <a:r>
              <a:rPr b="0" lang="en" sz="2000">
                <a:solidFill>
                  <a:srgbClr val="FFFFFF"/>
                </a:solidFill>
                <a:latin typeface="Muli"/>
                <a:ea typeface="Muli"/>
                <a:cs typeface="Muli"/>
                <a:sym typeface="Muli"/>
              </a:rPr>
              <a:t>Target correctly identifies pregnant teenager based on her purchase history</a:t>
            </a:r>
            <a:endParaRPr b="0" sz="2000">
              <a:solidFill>
                <a:srgbClr val="FFFFFF"/>
              </a:solidFill>
              <a:latin typeface="Muli"/>
              <a:ea typeface="Muli"/>
              <a:cs typeface="Muli"/>
              <a:sym typeface="Muli"/>
            </a:endParaRPr>
          </a:p>
          <a:p>
            <a:pPr indent="0" lvl="0" marL="0" rtl="0" algn="l">
              <a:spcBef>
                <a:spcPts val="0"/>
              </a:spcBef>
              <a:spcAft>
                <a:spcPts val="0"/>
              </a:spcAft>
              <a:buNone/>
            </a:pPr>
            <a:r>
              <a:t/>
            </a:r>
            <a:endParaRPr sz="2000">
              <a:solidFill>
                <a:srgbClr val="FFFFFF"/>
              </a:solidFill>
              <a:latin typeface="Muli"/>
              <a:ea typeface="Muli"/>
              <a:cs typeface="Muli"/>
              <a:sym typeface="Muli"/>
            </a:endParaRPr>
          </a:p>
        </p:txBody>
      </p:sp>
      <p:sp>
        <p:nvSpPr>
          <p:cNvPr id="109" name="Google Shape;109;p21"/>
          <p:cNvSpPr txBox="1"/>
          <p:nvPr>
            <p:ph idx="1" type="body"/>
          </p:nvPr>
        </p:nvSpPr>
        <p:spPr>
          <a:xfrm>
            <a:off x="580550" y="1063375"/>
            <a:ext cx="6014400" cy="3666900"/>
          </a:xfrm>
          <a:prstGeom prst="rect">
            <a:avLst/>
          </a:prstGeom>
        </p:spPr>
        <p:txBody>
          <a:bodyPr anchorCtr="0" anchor="t" bIns="0" lIns="0" spcFirstLastPara="1" rIns="0" wrap="square" tIns="0">
            <a:noAutofit/>
          </a:bodyPr>
          <a:lstStyle/>
          <a:p>
            <a:pPr indent="-342900" lvl="0" marL="457200" rtl="0" algn="l">
              <a:spcBef>
                <a:spcPts val="600"/>
              </a:spcBef>
              <a:spcAft>
                <a:spcPts val="0"/>
              </a:spcAft>
              <a:buSzPts val="1800"/>
              <a:buChar char="⬡"/>
            </a:pPr>
            <a:r>
              <a:rPr lang="en" sz="1800"/>
              <a:t>Target statisticians look at historical buying data for all women who signed up for Target baby registries</a:t>
            </a:r>
            <a:endParaRPr sz="1800"/>
          </a:p>
          <a:p>
            <a:pPr indent="-342900" lvl="0" marL="457200" rtl="0" algn="l">
              <a:spcBef>
                <a:spcPts val="0"/>
              </a:spcBef>
              <a:spcAft>
                <a:spcPts val="0"/>
              </a:spcAft>
              <a:buSzPts val="1800"/>
              <a:buChar char="⬡"/>
            </a:pPr>
            <a:r>
              <a:rPr lang="en" sz="1800"/>
              <a:t>Target sends coupons for baby items to customers based on pregnancy prediction scores &amp; accurately predicts whether a woman is pregnant</a:t>
            </a:r>
            <a:endParaRPr sz="1800"/>
          </a:p>
          <a:p>
            <a:pPr indent="-342900" lvl="0" marL="457200" rtl="0" algn="l">
              <a:spcBef>
                <a:spcPts val="0"/>
              </a:spcBef>
              <a:spcAft>
                <a:spcPts val="0"/>
              </a:spcAft>
              <a:buSzPts val="1800"/>
              <a:buChar char="⬡"/>
            </a:pPr>
            <a:r>
              <a:rPr lang="en" sz="1800"/>
              <a:t>Privacy Concern- PR Backlash, customers view it is creepy &amp; stalker-like behavior</a:t>
            </a:r>
            <a:endParaRPr sz="1800"/>
          </a:p>
          <a:p>
            <a:pPr indent="-342900" lvl="1" marL="914400" rtl="0" algn="l">
              <a:spcBef>
                <a:spcPts val="0"/>
              </a:spcBef>
              <a:spcAft>
                <a:spcPts val="0"/>
              </a:spcAft>
              <a:buSzPts val="1800"/>
              <a:buChar char="∙"/>
            </a:pPr>
            <a:r>
              <a:rPr lang="en" sz="1800"/>
              <a:t>As a result, Target eventually gets more discreet with how they spread coupons due to backlash</a:t>
            </a:r>
            <a:endParaRPr sz="1800"/>
          </a:p>
        </p:txBody>
      </p:sp>
      <p:pic>
        <p:nvPicPr>
          <p:cNvPr id="110" name="Google Shape;110;p21"/>
          <p:cNvPicPr preferRelativeResize="0"/>
          <p:nvPr/>
        </p:nvPicPr>
        <p:blipFill>
          <a:blip r:embed="rId3">
            <a:alphaModFix/>
          </a:blip>
          <a:stretch>
            <a:fillRect/>
          </a:stretch>
        </p:blipFill>
        <p:spPr>
          <a:xfrm>
            <a:off x="6762650" y="1300500"/>
            <a:ext cx="2244250" cy="1829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580550" y="205975"/>
            <a:ext cx="6014400" cy="857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Hypothesis</a:t>
            </a:r>
            <a:endParaRPr/>
          </a:p>
        </p:txBody>
      </p:sp>
      <p:sp>
        <p:nvSpPr>
          <p:cNvPr id="116" name="Google Shape;116;p22"/>
          <p:cNvSpPr txBox="1"/>
          <p:nvPr>
            <p:ph idx="1" type="body"/>
          </p:nvPr>
        </p:nvSpPr>
        <p:spPr>
          <a:xfrm>
            <a:off x="580550" y="1352550"/>
            <a:ext cx="6014400" cy="3161700"/>
          </a:xfrm>
          <a:prstGeom prst="rect">
            <a:avLst/>
          </a:prstGeom>
        </p:spPr>
        <p:txBody>
          <a:bodyPr anchorCtr="0" anchor="t" bIns="0" lIns="0" spcFirstLastPara="1" rIns="0" wrap="square" tIns="0">
            <a:noAutofit/>
          </a:bodyPr>
          <a:lstStyle/>
          <a:p>
            <a:pPr indent="-381000" lvl="0" marL="457200" rtl="0" algn="l">
              <a:lnSpc>
                <a:spcPct val="115000"/>
              </a:lnSpc>
              <a:spcBef>
                <a:spcPts val="600"/>
              </a:spcBef>
              <a:spcAft>
                <a:spcPts val="0"/>
              </a:spcAft>
              <a:buClr>
                <a:srgbClr val="FFFFFF"/>
              </a:buClr>
              <a:buSzPts val="2400"/>
              <a:buChar char="⬡"/>
            </a:pPr>
            <a:r>
              <a:rPr lang="en">
                <a:solidFill>
                  <a:srgbClr val="FFFFFF"/>
                </a:solidFill>
              </a:rPr>
              <a:t>Does our social contexts have an influence on the development of big data?</a:t>
            </a:r>
            <a:endParaRPr>
              <a:solidFill>
                <a:srgbClr val="FFFFFF"/>
              </a:solidFill>
            </a:endParaRPr>
          </a:p>
          <a:p>
            <a:pPr indent="-381000" lvl="0" marL="457200" rtl="0" algn="l">
              <a:lnSpc>
                <a:spcPct val="115000"/>
              </a:lnSpc>
              <a:spcBef>
                <a:spcPts val="0"/>
              </a:spcBef>
              <a:spcAft>
                <a:spcPts val="0"/>
              </a:spcAft>
              <a:buClr>
                <a:srgbClr val="FFFFFF"/>
              </a:buClr>
              <a:buSzPts val="2400"/>
              <a:buChar char="⬡"/>
            </a:pPr>
            <a:r>
              <a:rPr lang="en">
                <a:solidFill>
                  <a:srgbClr val="FFFFFF"/>
                </a:solidFill>
              </a:rPr>
              <a:t>How can we make big data more useful/applicable in a court of law?</a:t>
            </a:r>
            <a:endParaRPr>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0" name="Shape 120"/>
        <p:cNvGrpSpPr/>
        <p:nvPr/>
      </p:nvGrpSpPr>
      <p:grpSpPr>
        <a:xfrm>
          <a:off x="0" y="0"/>
          <a:ext cx="0" cy="0"/>
          <a:chOff x="0" y="0"/>
          <a:chExt cx="0" cy="0"/>
        </a:xfrm>
      </p:grpSpPr>
      <p:sp>
        <p:nvSpPr>
          <p:cNvPr id="121" name="Google Shape;121;p23"/>
          <p:cNvSpPr txBox="1"/>
          <p:nvPr>
            <p:ph type="title"/>
          </p:nvPr>
        </p:nvSpPr>
        <p:spPr>
          <a:xfrm>
            <a:off x="580550" y="205975"/>
            <a:ext cx="6014400" cy="857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Conclusion</a:t>
            </a:r>
            <a:endParaRPr/>
          </a:p>
        </p:txBody>
      </p:sp>
      <p:sp>
        <p:nvSpPr>
          <p:cNvPr id="122" name="Google Shape;122;p23"/>
          <p:cNvSpPr txBox="1"/>
          <p:nvPr>
            <p:ph idx="1" type="body"/>
          </p:nvPr>
        </p:nvSpPr>
        <p:spPr>
          <a:xfrm>
            <a:off x="504025" y="1352550"/>
            <a:ext cx="6014400" cy="3161700"/>
          </a:xfrm>
          <a:prstGeom prst="rect">
            <a:avLst/>
          </a:prstGeom>
        </p:spPr>
        <p:txBody>
          <a:bodyPr anchorCtr="0" anchor="t" bIns="0" lIns="0" spcFirstLastPara="1" rIns="0" wrap="square" tIns="0">
            <a:noAutofit/>
          </a:bodyPr>
          <a:lstStyle/>
          <a:p>
            <a:pPr indent="-266700" lvl="0" marL="342900" rtl="0" algn="l">
              <a:lnSpc>
                <a:spcPct val="150000"/>
              </a:lnSpc>
              <a:spcBef>
                <a:spcPts val="1200"/>
              </a:spcBef>
              <a:spcAft>
                <a:spcPts val="0"/>
              </a:spcAft>
              <a:buClr>
                <a:srgbClr val="FFFFFF"/>
              </a:buClr>
              <a:buSzPts val="1800"/>
              <a:buFont typeface="Muli"/>
              <a:buChar char="⬡"/>
            </a:pPr>
            <a:r>
              <a:rPr lang="en" sz="1800">
                <a:solidFill>
                  <a:srgbClr val="FFFFFF"/>
                </a:solidFill>
                <a:latin typeface="Muli"/>
                <a:ea typeface="Muli"/>
                <a:cs typeface="Muli"/>
                <a:sym typeface="Muli"/>
              </a:rPr>
              <a:t>Overall, big data has been ineffective in a legal setting because of its overcomplexity and misinterpretation, to which we can attempt to solve by addressing the contexts that cause current data analysis to not be as effective as it should.</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580550" y="205975"/>
            <a:ext cx="6014400" cy="857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Works Cited</a:t>
            </a:r>
            <a:endParaRPr/>
          </a:p>
        </p:txBody>
      </p:sp>
      <p:sp>
        <p:nvSpPr>
          <p:cNvPr id="128" name="Google Shape;128;p24"/>
          <p:cNvSpPr txBox="1"/>
          <p:nvPr>
            <p:ph idx="1" type="body"/>
          </p:nvPr>
        </p:nvSpPr>
        <p:spPr>
          <a:xfrm>
            <a:off x="311700" y="1152475"/>
            <a:ext cx="8520600" cy="3990900"/>
          </a:xfrm>
          <a:prstGeom prst="rect">
            <a:avLst/>
          </a:prstGeom>
        </p:spPr>
        <p:txBody>
          <a:bodyPr anchorCtr="0" anchor="t" bIns="0" lIns="0" spcFirstLastPara="1" rIns="0" wrap="square" tIns="0">
            <a:noAutofit/>
          </a:bodyPr>
          <a:lstStyle/>
          <a:p>
            <a:pPr indent="-317500" lvl="0" marL="457200" rtl="0" algn="l">
              <a:spcBef>
                <a:spcPts val="600"/>
              </a:spcBef>
              <a:spcAft>
                <a:spcPts val="0"/>
              </a:spcAft>
              <a:buClr>
                <a:srgbClr val="FFFFFF"/>
              </a:buClr>
              <a:buSzPts val="1400"/>
              <a:buChar char="⬡"/>
            </a:pPr>
            <a:r>
              <a:rPr lang="en" sz="1400">
                <a:solidFill>
                  <a:srgbClr val="FFFFFF"/>
                </a:solidFill>
                <a:latin typeface="Muli"/>
                <a:ea typeface="Muli"/>
                <a:cs typeface="Muli"/>
                <a:sym typeface="Muli"/>
              </a:rPr>
              <a:t>Boyd, Danah, &amp; Crawford, Kate. “Critical Questions for Big Data.”</a:t>
            </a:r>
            <a:endParaRPr sz="1400">
              <a:solidFill>
                <a:srgbClr val="FFFFFF"/>
              </a:solidFill>
              <a:latin typeface="Muli"/>
              <a:ea typeface="Muli"/>
              <a:cs typeface="Muli"/>
              <a:sym typeface="Muli"/>
            </a:endParaRPr>
          </a:p>
          <a:p>
            <a:pPr indent="0" lvl="0" marL="457200" rtl="0" algn="l">
              <a:spcBef>
                <a:spcPts val="600"/>
              </a:spcBef>
              <a:spcAft>
                <a:spcPts val="0"/>
              </a:spcAft>
              <a:buNone/>
            </a:pPr>
            <a:r>
              <a:rPr i="1" lang="en" sz="1400">
                <a:solidFill>
                  <a:srgbClr val="FFFFFF"/>
                </a:solidFill>
                <a:latin typeface="Muli"/>
                <a:ea typeface="Muli"/>
                <a:cs typeface="Muli"/>
                <a:sym typeface="Muli"/>
              </a:rPr>
              <a:t>Information, Communication &amp; Society</a:t>
            </a:r>
            <a:r>
              <a:rPr lang="en" sz="1400">
                <a:solidFill>
                  <a:srgbClr val="FFFFFF"/>
                </a:solidFill>
                <a:latin typeface="Muli"/>
                <a:ea typeface="Muli"/>
                <a:cs typeface="Muli"/>
                <a:sym typeface="Muli"/>
              </a:rPr>
              <a:t>, Vol. 15, No. 5, June 2012, pp. 662–679. </a:t>
            </a:r>
            <a:endParaRPr sz="1400">
              <a:solidFill>
                <a:srgbClr val="FFFFFF"/>
              </a:solidFill>
              <a:latin typeface="Muli"/>
              <a:ea typeface="Muli"/>
              <a:cs typeface="Muli"/>
              <a:sym typeface="Muli"/>
            </a:endParaRPr>
          </a:p>
          <a:p>
            <a:pPr indent="-317500" lvl="0" marL="457200" rtl="0" algn="l">
              <a:spcBef>
                <a:spcPts val="600"/>
              </a:spcBef>
              <a:spcAft>
                <a:spcPts val="0"/>
              </a:spcAft>
              <a:buClr>
                <a:srgbClr val="FFFFFF"/>
              </a:buClr>
              <a:buSzPts val="1400"/>
              <a:buChar char="⬡"/>
            </a:pPr>
            <a:r>
              <a:rPr lang="en" sz="1400">
                <a:solidFill>
                  <a:srgbClr val="FFFFFF"/>
                </a:solidFill>
                <a:latin typeface="Muli"/>
                <a:ea typeface="Muli"/>
                <a:cs typeface="Muli"/>
                <a:sym typeface="Muli"/>
              </a:rPr>
              <a:t>Crawford, Kate, Miltner, Kate, &amp; Gray, Mary L.</a:t>
            </a:r>
            <a:endParaRPr sz="1400">
              <a:solidFill>
                <a:srgbClr val="FFFFFF"/>
              </a:solidFill>
              <a:latin typeface="Muli"/>
              <a:ea typeface="Muli"/>
              <a:cs typeface="Muli"/>
              <a:sym typeface="Muli"/>
            </a:endParaRPr>
          </a:p>
          <a:p>
            <a:pPr indent="0" lvl="0" marL="457200" rtl="0" algn="l">
              <a:spcBef>
                <a:spcPts val="600"/>
              </a:spcBef>
              <a:spcAft>
                <a:spcPts val="0"/>
              </a:spcAft>
              <a:buNone/>
            </a:pPr>
            <a:r>
              <a:rPr lang="en" sz="1400">
                <a:solidFill>
                  <a:srgbClr val="FFFFFF"/>
                </a:solidFill>
                <a:latin typeface="Muli"/>
                <a:ea typeface="Muli"/>
                <a:cs typeface="Muli"/>
                <a:sym typeface="Muli"/>
              </a:rPr>
              <a:t>“Critiquing Big Data: Politics, Ethics, Epistemology.”</a:t>
            </a:r>
            <a:endParaRPr sz="1400">
              <a:solidFill>
                <a:srgbClr val="FFFFFF"/>
              </a:solidFill>
              <a:latin typeface="Muli"/>
              <a:ea typeface="Muli"/>
              <a:cs typeface="Muli"/>
              <a:sym typeface="Muli"/>
            </a:endParaRPr>
          </a:p>
          <a:p>
            <a:pPr indent="0" lvl="0" marL="457200" rtl="0" algn="l">
              <a:spcBef>
                <a:spcPts val="600"/>
              </a:spcBef>
              <a:spcAft>
                <a:spcPts val="0"/>
              </a:spcAft>
              <a:buNone/>
            </a:pPr>
            <a:r>
              <a:rPr i="1" lang="en" sz="1400">
                <a:solidFill>
                  <a:srgbClr val="FFFFFF"/>
                </a:solidFill>
                <a:latin typeface="Muli"/>
                <a:ea typeface="Muli"/>
                <a:cs typeface="Muli"/>
                <a:sym typeface="Muli"/>
              </a:rPr>
              <a:t>International Journal of Communication</a:t>
            </a:r>
            <a:r>
              <a:rPr lang="en" sz="1400">
                <a:solidFill>
                  <a:srgbClr val="FFFFFF"/>
                </a:solidFill>
                <a:latin typeface="Muli"/>
                <a:ea typeface="Muli"/>
                <a:cs typeface="Muli"/>
                <a:sym typeface="Muli"/>
              </a:rPr>
              <a:t>, Vol. 8, No. 1, June 2014, pp.1663-1672. </a:t>
            </a:r>
            <a:endParaRPr sz="1400">
              <a:solidFill>
                <a:srgbClr val="FFFFFF"/>
              </a:solidFill>
              <a:latin typeface="Muli"/>
              <a:ea typeface="Muli"/>
              <a:cs typeface="Muli"/>
              <a:sym typeface="Muli"/>
            </a:endParaRPr>
          </a:p>
          <a:p>
            <a:pPr indent="-317500" lvl="0" marL="457200" rtl="0" algn="l">
              <a:spcBef>
                <a:spcPts val="600"/>
              </a:spcBef>
              <a:spcAft>
                <a:spcPts val="0"/>
              </a:spcAft>
              <a:buClr>
                <a:srgbClr val="FFFFFF"/>
              </a:buClr>
              <a:buSzPts val="1400"/>
              <a:buChar char="⬡"/>
            </a:pPr>
            <a:r>
              <a:rPr lang="en" sz="1400">
                <a:solidFill>
                  <a:srgbClr val="FFFFFF"/>
                </a:solidFill>
                <a:latin typeface="Muli"/>
                <a:ea typeface="Muli"/>
                <a:cs typeface="Muli"/>
                <a:sym typeface="Muli"/>
              </a:rPr>
              <a:t>Goel, Sharad, Perelman, Maya, Shroff, Ravi, &amp; Sklansky, David A.</a:t>
            </a:r>
            <a:endParaRPr sz="1400">
              <a:solidFill>
                <a:srgbClr val="FFFFFF"/>
              </a:solidFill>
              <a:latin typeface="Muli"/>
              <a:ea typeface="Muli"/>
              <a:cs typeface="Muli"/>
              <a:sym typeface="Muli"/>
            </a:endParaRPr>
          </a:p>
          <a:p>
            <a:pPr indent="0" lvl="0" marL="457200" rtl="0" algn="l">
              <a:spcBef>
                <a:spcPts val="600"/>
              </a:spcBef>
              <a:spcAft>
                <a:spcPts val="0"/>
              </a:spcAft>
              <a:buNone/>
            </a:pPr>
            <a:r>
              <a:rPr lang="en" sz="1400">
                <a:solidFill>
                  <a:srgbClr val="FFFFFF"/>
                </a:solidFill>
                <a:latin typeface="Muli"/>
                <a:ea typeface="Muli"/>
                <a:cs typeface="Muli"/>
                <a:sym typeface="Muli"/>
              </a:rPr>
              <a:t>“Combatting Police Discrimination in the Age of Big Data.” </a:t>
            </a:r>
            <a:r>
              <a:rPr i="1" lang="en" sz="1400">
                <a:solidFill>
                  <a:srgbClr val="FFFFFF"/>
                </a:solidFill>
                <a:latin typeface="Muli"/>
                <a:ea typeface="Muli"/>
                <a:cs typeface="Muli"/>
                <a:sym typeface="Muli"/>
              </a:rPr>
              <a:t>New Criminal Law Review: An International and Interdisciplinary Journal</a:t>
            </a:r>
            <a:r>
              <a:rPr lang="en" sz="1400">
                <a:solidFill>
                  <a:srgbClr val="FFFFFF"/>
                </a:solidFill>
                <a:latin typeface="Muli"/>
                <a:ea typeface="Muli"/>
                <a:cs typeface="Muli"/>
                <a:sym typeface="Muli"/>
              </a:rPr>
              <a:t>, Vol. 20 No. 2, Spring 2017, pp 191-204  </a:t>
            </a:r>
            <a:endParaRPr sz="1400">
              <a:solidFill>
                <a:srgbClr val="FFFFFF"/>
              </a:solidFill>
              <a:latin typeface="Muli"/>
              <a:ea typeface="Muli"/>
              <a:cs typeface="Muli"/>
              <a:sym typeface="Muli"/>
            </a:endParaRPr>
          </a:p>
          <a:p>
            <a:pPr indent="-317500" lvl="0" marL="457200" rtl="0" algn="l">
              <a:spcBef>
                <a:spcPts val="600"/>
              </a:spcBef>
              <a:spcAft>
                <a:spcPts val="0"/>
              </a:spcAft>
              <a:buClr>
                <a:srgbClr val="FFFFFF"/>
              </a:buClr>
              <a:buSzPts val="1400"/>
              <a:buChar char="⬡"/>
            </a:pPr>
            <a:r>
              <a:rPr lang="en" sz="1400">
                <a:solidFill>
                  <a:srgbClr val="FFFFFF"/>
                </a:solidFill>
                <a:latin typeface="Muli"/>
                <a:ea typeface="Muli"/>
                <a:cs typeface="Muli"/>
                <a:sym typeface="Muli"/>
              </a:rPr>
              <a:t>Martin, Kirsten E. “Ethical Issues in the Big Data Industry.”</a:t>
            </a:r>
            <a:endParaRPr sz="1400">
              <a:solidFill>
                <a:srgbClr val="FFFFFF"/>
              </a:solidFill>
              <a:latin typeface="Muli"/>
              <a:ea typeface="Muli"/>
              <a:cs typeface="Muli"/>
              <a:sym typeface="Muli"/>
            </a:endParaRPr>
          </a:p>
          <a:p>
            <a:pPr indent="0" lvl="0" marL="457200" rtl="0" algn="l">
              <a:spcBef>
                <a:spcPts val="600"/>
              </a:spcBef>
              <a:spcAft>
                <a:spcPts val="0"/>
              </a:spcAft>
              <a:buNone/>
            </a:pPr>
            <a:r>
              <a:rPr i="1" lang="en" sz="1400">
                <a:solidFill>
                  <a:srgbClr val="FFFFFF"/>
                </a:solidFill>
                <a:latin typeface="Muli"/>
                <a:ea typeface="Muli"/>
                <a:cs typeface="Muli"/>
                <a:sym typeface="Muli"/>
              </a:rPr>
              <a:t>MIS Quarterly Executive</a:t>
            </a:r>
            <a:r>
              <a:rPr lang="en" sz="1400">
                <a:solidFill>
                  <a:srgbClr val="FFFFFF"/>
                </a:solidFill>
                <a:latin typeface="Muli"/>
                <a:ea typeface="Muli"/>
                <a:cs typeface="Muli"/>
                <a:sym typeface="Muli"/>
              </a:rPr>
              <a:t>, Vol. 14, No. 2, June 2015, pp. 67–85. </a:t>
            </a:r>
            <a:endParaRPr sz="1400">
              <a:solidFill>
                <a:srgbClr val="FFFF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580550" y="205975"/>
            <a:ext cx="6014400" cy="857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Works Cited, Cont.</a:t>
            </a:r>
            <a:endParaRPr/>
          </a:p>
        </p:txBody>
      </p:sp>
      <p:sp>
        <p:nvSpPr>
          <p:cNvPr id="134" name="Google Shape;134;p25"/>
          <p:cNvSpPr txBox="1"/>
          <p:nvPr>
            <p:ph idx="1" type="body"/>
          </p:nvPr>
        </p:nvSpPr>
        <p:spPr>
          <a:xfrm>
            <a:off x="427000" y="1352550"/>
            <a:ext cx="6014400" cy="3516300"/>
          </a:xfrm>
          <a:prstGeom prst="rect">
            <a:avLst/>
          </a:prstGeom>
        </p:spPr>
        <p:txBody>
          <a:bodyPr anchorCtr="0" anchor="t" bIns="0" lIns="0" spcFirstLastPara="1" rIns="0" wrap="square" tIns="0">
            <a:noAutofit/>
          </a:bodyPr>
          <a:lstStyle/>
          <a:p>
            <a:pPr indent="-317500" lvl="0" marL="457200" rtl="0" algn="l">
              <a:spcBef>
                <a:spcPts val="600"/>
              </a:spcBef>
              <a:spcAft>
                <a:spcPts val="0"/>
              </a:spcAft>
              <a:buClr>
                <a:srgbClr val="FFFFFF"/>
              </a:buClr>
              <a:buSzPts val="1400"/>
              <a:buChar char="⬡"/>
            </a:pPr>
            <a:r>
              <a:rPr lang="en" sz="1400">
                <a:solidFill>
                  <a:srgbClr val="FFFFFF"/>
                </a:solidFill>
                <a:latin typeface="Muli"/>
                <a:ea typeface="Muli"/>
                <a:cs typeface="Muli"/>
                <a:sym typeface="Muli"/>
              </a:rPr>
              <a:t>O’Leary, Daniel E. “Ethics for Big Data and Analytics.”</a:t>
            </a:r>
            <a:endParaRPr sz="1400">
              <a:solidFill>
                <a:srgbClr val="FFFFFF"/>
              </a:solidFill>
              <a:latin typeface="Muli"/>
              <a:ea typeface="Muli"/>
              <a:cs typeface="Muli"/>
              <a:sym typeface="Muli"/>
            </a:endParaRPr>
          </a:p>
          <a:p>
            <a:pPr indent="0" lvl="0" marL="457200" rtl="0" algn="l">
              <a:spcBef>
                <a:spcPts val="600"/>
              </a:spcBef>
              <a:spcAft>
                <a:spcPts val="0"/>
              </a:spcAft>
              <a:buClr>
                <a:schemeClr val="dk1"/>
              </a:buClr>
              <a:buSzPts val="1100"/>
              <a:buFont typeface="Arial"/>
              <a:buNone/>
            </a:pPr>
            <a:r>
              <a:rPr i="1" lang="en" sz="1400">
                <a:solidFill>
                  <a:srgbClr val="FFFFFF"/>
                </a:solidFill>
                <a:latin typeface="Muli"/>
                <a:ea typeface="Muli"/>
                <a:cs typeface="Muli"/>
                <a:sym typeface="Muli"/>
              </a:rPr>
              <a:t>IEEE Computer Society</a:t>
            </a:r>
            <a:r>
              <a:rPr lang="en" sz="1400">
                <a:solidFill>
                  <a:srgbClr val="FFFFFF"/>
                </a:solidFill>
                <a:latin typeface="Muli"/>
                <a:ea typeface="Muli"/>
                <a:cs typeface="Muli"/>
                <a:sym typeface="Muli"/>
              </a:rPr>
              <a:t>, July/August 2016, pp 81-84</a:t>
            </a:r>
            <a:endParaRPr sz="1400">
              <a:solidFill>
                <a:srgbClr val="FFFFFF"/>
              </a:solidFill>
              <a:latin typeface="Muli"/>
              <a:ea typeface="Muli"/>
              <a:cs typeface="Muli"/>
              <a:sym typeface="Muli"/>
            </a:endParaRPr>
          </a:p>
          <a:p>
            <a:pPr indent="-317500" lvl="0" marL="457200" rtl="0" algn="l">
              <a:spcBef>
                <a:spcPts val="600"/>
              </a:spcBef>
              <a:spcAft>
                <a:spcPts val="0"/>
              </a:spcAft>
              <a:buClr>
                <a:srgbClr val="FFFFFF"/>
              </a:buClr>
              <a:buSzPts val="1400"/>
              <a:buChar char="⬡"/>
            </a:pPr>
            <a:r>
              <a:rPr lang="en" sz="1400">
                <a:solidFill>
                  <a:srgbClr val="FFFFFF"/>
                </a:solidFill>
                <a:latin typeface="Muli"/>
                <a:ea typeface="Muli"/>
                <a:cs typeface="Muli"/>
                <a:sym typeface="Muli"/>
              </a:rPr>
              <a:t>Simundic, Ana-Maria. “Bias in Research.”</a:t>
            </a:r>
            <a:endParaRPr sz="1400">
              <a:solidFill>
                <a:srgbClr val="FFFFFF"/>
              </a:solidFill>
              <a:latin typeface="Muli"/>
              <a:ea typeface="Muli"/>
              <a:cs typeface="Muli"/>
              <a:sym typeface="Muli"/>
            </a:endParaRPr>
          </a:p>
          <a:p>
            <a:pPr indent="0" lvl="0" marL="457200" rtl="0" algn="l">
              <a:spcBef>
                <a:spcPts val="600"/>
              </a:spcBef>
              <a:spcAft>
                <a:spcPts val="0"/>
              </a:spcAft>
              <a:buClr>
                <a:schemeClr val="dk1"/>
              </a:buClr>
              <a:buSzPts val="1100"/>
              <a:buFont typeface="Arial"/>
              <a:buNone/>
            </a:pPr>
            <a:r>
              <a:rPr i="1" lang="en" sz="1400">
                <a:solidFill>
                  <a:srgbClr val="FFFFFF"/>
                </a:solidFill>
                <a:latin typeface="Muli"/>
                <a:ea typeface="Muli"/>
                <a:cs typeface="Muli"/>
                <a:sym typeface="Muli"/>
              </a:rPr>
              <a:t>Biochemia Medica</a:t>
            </a:r>
            <a:r>
              <a:rPr lang="en" sz="1400">
                <a:solidFill>
                  <a:srgbClr val="FFFFFF"/>
                </a:solidFill>
                <a:latin typeface="Muli"/>
                <a:ea typeface="Muli"/>
                <a:cs typeface="Muli"/>
                <a:sym typeface="Muli"/>
              </a:rPr>
              <a:t>, Vol. 23 No. 2, January 2013, pp 12-15</a:t>
            </a:r>
            <a:endParaRPr sz="1400">
              <a:solidFill>
                <a:srgbClr val="FFFFFF"/>
              </a:solidFill>
              <a:latin typeface="Muli"/>
              <a:ea typeface="Muli"/>
              <a:cs typeface="Muli"/>
              <a:sym typeface="Muli"/>
            </a:endParaRPr>
          </a:p>
          <a:p>
            <a:pPr indent="-317500" lvl="0" marL="457200" rtl="0" algn="l">
              <a:spcBef>
                <a:spcPts val="600"/>
              </a:spcBef>
              <a:spcAft>
                <a:spcPts val="0"/>
              </a:spcAft>
              <a:buClr>
                <a:srgbClr val="FFFFFF"/>
              </a:buClr>
              <a:buSzPts val="1400"/>
              <a:buChar char="⬡"/>
            </a:pPr>
            <a:r>
              <a:rPr lang="en" sz="1400">
                <a:solidFill>
                  <a:srgbClr val="FFFFFF"/>
                </a:solidFill>
                <a:latin typeface="Muli"/>
                <a:ea typeface="Muli"/>
                <a:cs typeface="Muli"/>
                <a:sym typeface="Muli"/>
              </a:rPr>
              <a:t>Wang, Tricia. “The human insights missing from big data.” </a:t>
            </a:r>
            <a:r>
              <a:rPr i="1" lang="en" sz="1400">
                <a:solidFill>
                  <a:srgbClr val="FFFFFF"/>
                </a:solidFill>
                <a:latin typeface="Muli"/>
                <a:ea typeface="Muli"/>
                <a:cs typeface="Muli"/>
                <a:sym typeface="Muli"/>
              </a:rPr>
              <a:t>YouTube</a:t>
            </a:r>
            <a:r>
              <a:rPr lang="en" sz="1400">
                <a:solidFill>
                  <a:srgbClr val="FFFFFF"/>
                </a:solidFill>
                <a:latin typeface="Muli"/>
                <a:ea typeface="Muli"/>
                <a:cs typeface="Muli"/>
                <a:sym typeface="Muli"/>
              </a:rPr>
              <a:t>.</a:t>
            </a:r>
            <a:endParaRPr sz="1400">
              <a:solidFill>
                <a:srgbClr val="FFFFFF"/>
              </a:solidFill>
              <a:latin typeface="Muli"/>
              <a:ea typeface="Muli"/>
              <a:cs typeface="Muli"/>
              <a:sym typeface="Muli"/>
            </a:endParaRPr>
          </a:p>
          <a:p>
            <a:pPr indent="0" lvl="0" marL="457200" rtl="0" algn="l">
              <a:spcBef>
                <a:spcPts val="600"/>
              </a:spcBef>
              <a:spcAft>
                <a:spcPts val="0"/>
              </a:spcAft>
              <a:buClr>
                <a:schemeClr val="dk1"/>
              </a:buClr>
              <a:buSzPts val="1100"/>
              <a:buFont typeface="Arial"/>
              <a:buNone/>
            </a:pPr>
            <a:r>
              <a:rPr lang="en" sz="1400">
                <a:solidFill>
                  <a:srgbClr val="FFFFFF"/>
                </a:solidFill>
                <a:latin typeface="Muli"/>
                <a:ea typeface="Muli"/>
                <a:cs typeface="Muli"/>
                <a:sym typeface="Muli"/>
              </a:rPr>
              <a:t>TED. 2 August 2017,</a:t>
            </a:r>
            <a:r>
              <a:rPr lang="en" sz="1400">
                <a:solidFill>
                  <a:srgbClr val="FFFFFF"/>
                </a:solidFill>
                <a:uFill>
                  <a:noFill/>
                </a:uFill>
                <a:latin typeface="Muli"/>
                <a:ea typeface="Muli"/>
                <a:cs typeface="Muli"/>
                <a:sym typeface="Muli"/>
                <a:hlinkClick r:id="rId3"/>
              </a:rPr>
              <a:t> </a:t>
            </a:r>
            <a:r>
              <a:rPr lang="en" sz="1400" u="sng">
                <a:solidFill>
                  <a:schemeClr val="hlink"/>
                </a:solidFill>
                <a:latin typeface="Muli"/>
                <a:ea typeface="Muli"/>
                <a:cs typeface="Muli"/>
                <a:sym typeface="Muli"/>
                <a:hlinkClick r:id="rId4"/>
              </a:rPr>
              <a:t>https://www.youtube.com/watch?v=pk35J2u8KqYv</a:t>
            </a:r>
            <a:endParaRPr sz="1400">
              <a:solidFill>
                <a:srgbClr val="FFFFFF"/>
              </a:solidFill>
              <a:latin typeface="Muli"/>
              <a:ea typeface="Muli"/>
              <a:cs typeface="Muli"/>
              <a:sym typeface="Muli"/>
            </a:endParaRPr>
          </a:p>
          <a:p>
            <a:pPr indent="-317500" lvl="0" marL="457200" rtl="0" algn="l">
              <a:spcBef>
                <a:spcPts val="600"/>
              </a:spcBef>
              <a:spcAft>
                <a:spcPts val="0"/>
              </a:spcAft>
              <a:buClr>
                <a:srgbClr val="FFFFFF"/>
              </a:buClr>
              <a:buSzPts val="1400"/>
              <a:buFont typeface="Muli"/>
              <a:buChar char="⬡"/>
            </a:pPr>
            <a:r>
              <a:rPr lang="en" sz="1400" u="sng">
                <a:solidFill>
                  <a:schemeClr val="hlink"/>
                </a:solidFill>
                <a:latin typeface="Muli"/>
                <a:ea typeface="Muli"/>
                <a:cs typeface="Muli"/>
                <a:sym typeface="Muli"/>
                <a:hlinkClick r:id="rId5"/>
              </a:rPr>
              <a:t>https://www.forbes.com/sites/kashmirhill/2012/02/16/how-target-figured-out-a-teen-girl-was-pregnant-before-her-father-did/#71b343436668</a:t>
            </a:r>
            <a:endParaRPr sz="1400">
              <a:solidFill>
                <a:srgbClr val="FFFFFF"/>
              </a:solidFill>
              <a:latin typeface="Muli"/>
              <a:ea typeface="Muli"/>
              <a:cs typeface="Muli"/>
              <a:sym typeface="Muli"/>
            </a:endParaRPr>
          </a:p>
          <a:p>
            <a:pPr indent="0" lvl="0" marL="457200" rtl="0" algn="l">
              <a:spcBef>
                <a:spcPts val="600"/>
              </a:spcBef>
              <a:spcAft>
                <a:spcPts val="0"/>
              </a:spcAft>
              <a:buClr>
                <a:schemeClr val="dk1"/>
              </a:buClr>
              <a:buSzPts val="1100"/>
              <a:buFont typeface="Arial"/>
              <a:buNone/>
            </a:pPr>
            <a:r>
              <a:t/>
            </a:r>
            <a:endParaRPr sz="1400">
              <a:solidFill>
                <a:srgbClr val="FFFFFF"/>
              </a:solidFill>
              <a:latin typeface="Muli"/>
              <a:ea typeface="Muli"/>
              <a:cs typeface="Muli"/>
              <a:sym typeface="Muli"/>
            </a:endParaRPr>
          </a:p>
          <a:p>
            <a:pPr indent="0" lvl="0" marL="457200" rtl="0" algn="l">
              <a:spcBef>
                <a:spcPts val="600"/>
              </a:spcBef>
              <a:spcAft>
                <a:spcPts val="0"/>
              </a:spcAft>
              <a:buClr>
                <a:schemeClr val="dk1"/>
              </a:buClr>
              <a:buSzPts val="1100"/>
              <a:buFont typeface="Arial"/>
              <a:buNone/>
            </a:pPr>
            <a:r>
              <a:t/>
            </a:r>
            <a:endParaRPr sz="1400">
              <a:solidFill>
                <a:srgbClr val="FFFFFF"/>
              </a:solidFill>
              <a:latin typeface="Muli"/>
              <a:ea typeface="Muli"/>
              <a:cs typeface="Muli"/>
              <a:sym typeface="Muli"/>
            </a:endParaRPr>
          </a:p>
          <a:p>
            <a:pPr indent="0" lvl="0" marL="0" rtl="0" algn="l">
              <a:spcBef>
                <a:spcPts val="600"/>
              </a:spcBef>
              <a:spcAft>
                <a:spcPts val="0"/>
              </a:spcAft>
              <a:buNone/>
            </a:pPr>
            <a:r>
              <a:t/>
            </a:r>
            <a:endParaRPr sz="1400">
              <a:solidFill>
                <a:srgbClr val="FFFF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liena template">
  <a:themeElements>
    <a:clrScheme name="Custom 347">
      <a:dk1>
        <a:srgbClr val="050060"/>
      </a:dk1>
      <a:lt1>
        <a:srgbClr val="FFFFFF"/>
      </a:lt1>
      <a:dk2>
        <a:srgbClr val="585963"/>
      </a:dk2>
      <a:lt2>
        <a:srgbClr val="F3F3F3"/>
      </a:lt2>
      <a:accent1>
        <a:srgbClr val="0A2F9E"/>
      </a:accent1>
      <a:accent2>
        <a:srgbClr val="3544FF"/>
      </a:accent2>
      <a:accent3>
        <a:srgbClr val="24D6FF"/>
      </a:accent3>
      <a:accent4>
        <a:srgbClr val="00FFFF"/>
      </a:accent4>
      <a:accent5>
        <a:srgbClr val="A458FF"/>
      </a:accent5>
      <a:accent6>
        <a:srgbClr val="D392FF"/>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